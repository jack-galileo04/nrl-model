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7BC87-5560-4788-9C2B-94D3D3BB22C4}" v="3" dt="2026-05-25T11:53:12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54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Galea" userId="109cad75520cd39f" providerId="LiveId" clId="{F7D085D0-00B6-4070-A617-11F39E8A5377}"/>
    <pc:docChg chg="undo custSel addSld delSld modSld sldOrd">
      <pc:chgData name="Jack Galea" userId="109cad75520cd39f" providerId="LiveId" clId="{F7D085D0-00B6-4070-A617-11F39E8A5377}" dt="2026-05-26T06:08:10.600" v="6391" actId="14100"/>
      <pc:docMkLst>
        <pc:docMk/>
      </pc:docMkLst>
      <pc:sldChg chg="modSp new mod">
        <pc:chgData name="Jack Galea" userId="109cad75520cd39f" providerId="LiveId" clId="{F7D085D0-00B6-4070-A617-11F39E8A5377}" dt="2026-05-12T15:05:02.326" v="4183" actId="20577"/>
        <pc:sldMkLst>
          <pc:docMk/>
          <pc:sldMk cId="97821120" sldId="258"/>
        </pc:sldMkLst>
        <pc:spChg chg="mod">
          <ac:chgData name="Jack Galea" userId="109cad75520cd39f" providerId="LiveId" clId="{F7D085D0-00B6-4070-A617-11F39E8A5377}" dt="2026-05-12T15:05:02.326" v="4183" actId="20577"/>
          <ac:spMkLst>
            <pc:docMk/>
            <pc:sldMk cId="97821120" sldId="258"/>
            <ac:spMk id="2" creationId="{C0BB50D0-188F-ADD7-6F77-4EE8867FF435}"/>
          </ac:spMkLst>
        </pc:spChg>
      </pc:sldChg>
      <pc:sldChg chg="modSp new mod">
        <pc:chgData name="Jack Galea" userId="109cad75520cd39f" providerId="LiveId" clId="{F7D085D0-00B6-4070-A617-11F39E8A5377}" dt="2026-05-12T15:06:11.952" v="4323" actId="20577"/>
        <pc:sldMkLst>
          <pc:docMk/>
          <pc:sldMk cId="3141471347" sldId="259"/>
        </pc:sldMkLst>
        <pc:spChg chg="mod">
          <ac:chgData name="Jack Galea" userId="109cad75520cd39f" providerId="LiveId" clId="{F7D085D0-00B6-4070-A617-11F39E8A5377}" dt="2026-05-12T15:06:11.952" v="4323" actId="20577"/>
          <ac:spMkLst>
            <pc:docMk/>
            <pc:sldMk cId="3141471347" sldId="259"/>
            <ac:spMk id="3" creationId="{1E8BE007-3065-F8C8-8E9B-220694BAAC39}"/>
          </ac:spMkLst>
        </pc:spChg>
      </pc:sldChg>
      <pc:sldChg chg="modSp new mod">
        <pc:chgData name="Jack Galea" userId="109cad75520cd39f" providerId="LiveId" clId="{F7D085D0-00B6-4070-A617-11F39E8A5377}" dt="2026-05-12T15:07:16.977" v="4477" actId="20577"/>
        <pc:sldMkLst>
          <pc:docMk/>
          <pc:sldMk cId="2351705804" sldId="260"/>
        </pc:sldMkLst>
        <pc:spChg chg="mod">
          <ac:chgData name="Jack Galea" userId="109cad75520cd39f" providerId="LiveId" clId="{F7D085D0-00B6-4070-A617-11F39E8A5377}" dt="2026-05-12T15:07:16.977" v="4477" actId="20577"/>
          <ac:spMkLst>
            <pc:docMk/>
            <pc:sldMk cId="2351705804" sldId="260"/>
            <ac:spMk id="3" creationId="{C5D50F71-414C-9DEA-F266-0B945A0B5F31}"/>
          </ac:spMkLst>
        </pc:spChg>
      </pc:sldChg>
      <pc:sldChg chg="modSp new mod ord">
        <pc:chgData name="Jack Galea" userId="109cad75520cd39f" providerId="LiveId" clId="{F7D085D0-00B6-4070-A617-11F39E8A5377}" dt="2026-05-26T05:10:11.620" v="6382" actId="20577"/>
        <pc:sldMkLst>
          <pc:docMk/>
          <pc:sldMk cId="1724693129" sldId="263"/>
        </pc:sldMkLst>
        <pc:spChg chg="mod">
          <ac:chgData name="Jack Galea" userId="109cad75520cd39f" providerId="LiveId" clId="{F7D085D0-00B6-4070-A617-11F39E8A5377}" dt="2026-05-24T02:25:14.587" v="4825" actId="20577"/>
          <ac:spMkLst>
            <pc:docMk/>
            <pc:sldMk cId="1724693129" sldId="263"/>
            <ac:spMk id="2" creationId="{B1738FFA-9DB8-B906-2A36-31F414BC540A}"/>
          </ac:spMkLst>
        </pc:spChg>
        <pc:spChg chg="mod">
          <ac:chgData name="Jack Galea" userId="109cad75520cd39f" providerId="LiveId" clId="{F7D085D0-00B6-4070-A617-11F39E8A5377}" dt="2026-05-26T05:10:11.620" v="6382" actId="20577"/>
          <ac:spMkLst>
            <pc:docMk/>
            <pc:sldMk cId="1724693129" sldId="263"/>
            <ac:spMk id="3" creationId="{E673A87F-783D-C621-0DC3-B4B2D8580653}"/>
          </ac:spMkLst>
        </pc:spChg>
      </pc:sldChg>
      <pc:sldChg chg="addSp delSp modSp new mod ord">
        <pc:chgData name="Jack Galea" userId="109cad75520cd39f" providerId="LiveId" clId="{F7D085D0-00B6-4070-A617-11F39E8A5377}" dt="2026-05-26T06:08:10.600" v="6391" actId="14100"/>
        <pc:sldMkLst>
          <pc:docMk/>
          <pc:sldMk cId="81527901" sldId="264"/>
        </pc:sldMkLst>
        <pc:spChg chg="mod">
          <ac:chgData name="Jack Galea" userId="109cad75520cd39f" providerId="LiveId" clId="{F7D085D0-00B6-4070-A617-11F39E8A5377}" dt="2026-05-26T04:41:55.499" v="6310" actId="20577"/>
          <ac:spMkLst>
            <pc:docMk/>
            <pc:sldMk cId="81527901" sldId="264"/>
            <ac:spMk id="2" creationId="{B4B5A757-6FD0-7369-61C6-D751BB1A10EE}"/>
          </ac:spMkLst>
        </pc:spChg>
        <pc:spChg chg="add del mod">
          <ac:chgData name="Jack Galea" userId="109cad75520cd39f" providerId="LiveId" clId="{F7D085D0-00B6-4070-A617-11F39E8A5377}" dt="2026-05-25T11:52:54.224" v="6275" actId="22"/>
          <ac:spMkLst>
            <pc:docMk/>
            <pc:sldMk cId="81527901" sldId="264"/>
            <ac:spMk id="3" creationId="{5366429C-75BD-7E19-41AE-59BC3F9385F8}"/>
          </ac:spMkLst>
        </pc:spChg>
        <pc:spChg chg="add del mod">
          <ac:chgData name="Jack Galea" userId="109cad75520cd39f" providerId="LiveId" clId="{F7D085D0-00B6-4070-A617-11F39E8A5377}" dt="2026-05-26T04:44:47.284" v="6352" actId="478"/>
          <ac:spMkLst>
            <pc:docMk/>
            <pc:sldMk cId="81527901" sldId="264"/>
            <ac:spMk id="6" creationId="{A79B6F04-37C9-0FFB-8845-B94578947D5A}"/>
          </ac:spMkLst>
        </pc:spChg>
        <pc:spChg chg="add del mod">
          <ac:chgData name="Jack Galea" userId="109cad75520cd39f" providerId="LiveId" clId="{F7D085D0-00B6-4070-A617-11F39E8A5377}" dt="2026-05-26T04:43:33.091" v="6343" actId="931"/>
          <ac:spMkLst>
            <pc:docMk/>
            <pc:sldMk cId="81527901" sldId="264"/>
            <ac:spMk id="8" creationId="{66DF284A-56D7-EB7B-8295-FB6617A9BA84}"/>
          </ac:spMkLst>
        </pc:spChg>
        <pc:graphicFrameChg chg="add mod modGraphic">
          <ac:chgData name="Jack Galea" userId="109cad75520cd39f" providerId="LiveId" clId="{F7D085D0-00B6-4070-A617-11F39E8A5377}" dt="2026-05-25T11:52:00.820" v="6274"/>
          <ac:graphicFrameMkLst>
            <pc:docMk/>
            <pc:sldMk cId="81527901" sldId="264"/>
            <ac:graphicFrameMk id="4" creationId="{5C910897-6B08-261B-4443-37176EF5EF45}"/>
          </ac:graphicFrameMkLst>
        </pc:graphicFrameChg>
        <pc:picChg chg="add del mod ord">
          <ac:chgData name="Jack Galea" userId="109cad75520cd39f" providerId="LiveId" clId="{F7D085D0-00B6-4070-A617-11F39E8A5377}" dt="2026-05-26T04:43:42.563" v="6347" actId="478"/>
          <ac:picMkLst>
            <pc:docMk/>
            <pc:sldMk cId="81527901" sldId="264"/>
            <ac:picMk id="4" creationId="{714F0B6D-8028-27D1-FA67-4830165EC342}"/>
          </ac:picMkLst>
        </pc:picChg>
        <pc:picChg chg="add del mod ord">
          <ac:chgData name="Jack Galea" userId="109cad75520cd39f" providerId="LiveId" clId="{F7D085D0-00B6-4070-A617-11F39E8A5377}" dt="2026-05-25T11:53:10.806" v="6284" actId="21"/>
          <ac:picMkLst>
            <pc:docMk/>
            <pc:sldMk cId="81527901" sldId="264"/>
            <ac:picMk id="6" creationId="{215C4B10-AC6B-7FE1-35AC-2BBCB6C8929E}"/>
          </ac:picMkLst>
        </pc:picChg>
        <pc:picChg chg="add del mod">
          <ac:chgData name="Jack Galea" userId="109cad75520cd39f" providerId="LiveId" clId="{F7D085D0-00B6-4070-A617-11F39E8A5377}" dt="2026-05-26T04:44:15.189" v="6351" actId="478"/>
          <ac:picMkLst>
            <pc:docMk/>
            <pc:sldMk cId="81527901" sldId="264"/>
            <ac:picMk id="9" creationId="{CF953C68-4DEB-7458-AD80-27B796229FAB}"/>
          </ac:picMkLst>
        </pc:picChg>
        <pc:picChg chg="add del mod">
          <ac:chgData name="Jack Galea" userId="109cad75520cd39f" providerId="LiveId" clId="{F7D085D0-00B6-4070-A617-11F39E8A5377}" dt="2026-05-26T06:08:03.980" v="6385" actId="478"/>
          <ac:picMkLst>
            <pc:docMk/>
            <pc:sldMk cId="81527901" sldId="264"/>
            <ac:picMk id="11" creationId="{61920ADB-5728-5DCE-A665-2B320AB6D766}"/>
          </ac:picMkLst>
        </pc:picChg>
        <pc:picChg chg="add mod">
          <ac:chgData name="Jack Galea" userId="109cad75520cd39f" providerId="LiveId" clId="{F7D085D0-00B6-4070-A617-11F39E8A5377}" dt="2026-05-26T06:08:10.600" v="6391" actId="14100"/>
          <ac:picMkLst>
            <pc:docMk/>
            <pc:sldMk cId="81527901" sldId="264"/>
            <ac:picMk id="13" creationId="{30A78374-36D2-25F1-B6B5-E1F2AD162DE6}"/>
          </ac:picMkLst>
        </pc:picChg>
      </pc:sldChg>
      <pc:sldChg chg="addSp delSp modSp new del mod modClrScheme chgLayout">
        <pc:chgData name="Jack Galea" userId="109cad75520cd39f" providerId="LiveId" clId="{F7D085D0-00B6-4070-A617-11F39E8A5377}" dt="2026-05-26T04:43:21.376" v="6342" actId="47"/>
        <pc:sldMkLst>
          <pc:docMk/>
          <pc:sldMk cId="386794502" sldId="265"/>
        </pc:sldMkLst>
        <pc:spChg chg="del mod ord">
          <ac:chgData name="Jack Galea" userId="109cad75520cd39f" providerId="LiveId" clId="{F7D085D0-00B6-4070-A617-11F39E8A5377}" dt="2026-05-26T04:42:32.320" v="6315" actId="700"/>
          <ac:spMkLst>
            <pc:docMk/>
            <pc:sldMk cId="386794502" sldId="265"/>
            <ac:spMk id="2" creationId="{2FBAEA7C-7EE9-2DDB-25EB-0940425EC6C7}"/>
          </ac:spMkLst>
        </pc:spChg>
        <pc:spChg chg="del">
          <ac:chgData name="Jack Galea" userId="109cad75520cd39f" providerId="LiveId" clId="{F7D085D0-00B6-4070-A617-11F39E8A5377}" dt="2026-05-26T04:42:11.745" v="6314" actId="478"/>
          <ac:spMkLst>
            <pc:docMk/>
            <pc:sldMk cId="386794502" sldId="265"/>
            <ac:spMk id="3" creationId="{DED91C8C-0572-D7F6-BA94-76C1549E56D2}"/>
          </ac:spMkLst>
        </pc:spChg>
        <pc:spChg chg="add mod ord">
          <ac:chgData name="Jack Galea" userId="109cad75520cd39f" providerId="LiveId" clId="{F7D085D0-00B6-4070-A617-11F39E8A5377}" dt="2026-05-26T04:43:05.863" v="6339" actId="1076"/>
          <ac:spMkLst>
            <pc:docMk/>
            <pc:sldMk cId="386794502" sldId="265"/>
            <ac:spMk id="4" creationId="{A78B75FE-6243-2E42-751E-C447673B99AF}"/>
          </ac:spMkLst>
        </pc:spChg>
        <pc:spChg chg="add mod ord">
          <ac:chgData name="Jack Galea" userId="109cad75520cd39f" providerId="LiveId" clId="{F7D085D0-00B6-4070-A617-11F39E8A5377}" dt="2026-05-26T04:42:32.320" v="6315" actId="700"/>
          <ac:spMkLst>
            <pc:docMk/>
            <pc:sldMk cId="386794502" sldId="265"/>
            <ac:spMk id="5" creationId="{84BD6795-41D2-B41A-05D7-0A38CA007106}"/>
          </ac:spMkLst>
        </pc:spChg>
        <pc:spChg chg="add mod ord">
          <ac:chgData name="Jack Galea" userId="109cad75520cd39f" providerId="LiveId" clId="{F7D085D0-00B6-4070-A617-11F39E8A5377}" dt="2026-05-26T04:43:08.539" v="6340" actId="1076"/>
          <ac:spMkLst>
            <pc:docMk/>
            <pc:sldMk cId="386794502" sldId="265"/>
            <ac:spMk id="7" creationId="{F65D3DCB-6332-0CC3-0477-9908F1E140AF}"/>
          </ac:spMkLst>
        </pc:spChg>
        <pc:picChg chg="add del mod">
          <ac:chgData name="Jack Galea" userId="109cad75520cd39f" providerId="LiveId" clId="{F7D085D0-00B6-4070-A617-11F39E8A5377}" dt="2026-05-26T04:43:20.581" v="6341" actId="478"/>
          <ac:picMkLst>
            <pc:docMk/>
            <pc:sldMk cId="386794502" sldId="265"/>
            <ac:picMk id="6" creationId="{215C4B10-AC6B-7FE1-35AC-2BBCB6C8929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7C92-6820-2206-B20E-BBE050955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43436-A986-8EBC-F920-5F28EDF8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06525-7F44-C123-A60D-2A1B70FE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1C94-B62E-C131-B633-E0B225F7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4EEF8-965C-5C9A-12B5-BC8FFF8E4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07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22DB-F949-ECC0-7A46-914577D2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E1A71-EE05-B73C-6377-19666902B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A95AE-110C-8A57-B0A5-CF05F809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D8AEF-28AA-C3DA-D68E-20D8CD64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A97DA-6D2E-BD0F-A4B2-27EFFBF3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48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7707-B9EF-9FE0-4CF4-D462EFB8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CE757-4185-0109-8200-5BAB0A90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D6228-A9B2-662E-4C42-FA4F7CE2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FC5B0-2385-3B8F-AF3C-BC9917C4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8FBFB-3DD0-687E-3C66-A8DC55C6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97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C8C1-1D33-954A-FB6A-3524C770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B3AAB-4146-7B84-C77C-362D12061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805C9-0474-9FDC-E77B-17A467321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50C28-F67D-3E19-B4D2-0CD28C7C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00AD6-B443-BE31-8518-9F8FC8F68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B334F-3C11-D05C-9764-112D6F41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33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F9A-8A1A-F70B-E483-D8777A33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DF33-E7A2-664A-3A3D-73D255CFC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0116C-2BD2-4635-FE16-4E94C41CE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6D8E9-B9F3-744D-32D9-4E7B17C03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EBB17A-93E4-B99C-B806-D58F12153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754FC-4C76-21B0-CB04-BF67B290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47682-43CC-1FA1-B12C-E9E2CEDC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623DA-CB4D-BE16-0A19-881D3836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7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3B55-F9CA-A71E-CF6B-3C21B036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9AAB-0F13-09A2-8683-3953EF74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1EA67-5618-945C-7FBC-E1200212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62E19-78AD-0719-6035-855589A8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374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1A3C6-1170-12B2-540B-7455B1D5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5C98F-5CE5-D5B6-35FC-10F6C5A2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3EA42-C14D-799C-2471-5AF619CE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65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16BE-E161-172E-0F8F-32B9EA7A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490F-E3EC-989F-8921-BA69FD9D7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F6AE5-6D10-DB2F-70B5-76253EBB5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DD30B-D8E1-E3F7-50A4-FEB6A3F8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27968-06BC-E103-3ADC-7E5F994D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88734-8E3E-FA0F-12D5-72F677F7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050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B489-8BA1-A362-2020-49F4D52B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E5895-9541-F928-CCF8-85EAA1334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56F5F-921A-D79B-C8C1-F1FF78913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F9B77-4F51-1B99-58CF-DD0208C9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FBD84-66FD-5E4A-0CCA-47EE3DC9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CD703-F3DC-8BA2-6A38-D561AF95A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49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EE18-DC91-7C9D-2899-154829CB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350C0-B7C0-76F8-69E0-4AC311281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5100-3923-BB6E-B49C-6824244F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2D79A-534E-3266-B873-5D0EBD72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AC05C-F694-E6B1-70C3-F2E2D022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933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6020C-B934-23D8-B8AF-8D0C0B321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26B9A-C076-8968-81FA-CFC0382EF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0FD0E-68C3-561C-5DA1-6A8EA135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B7826-FF98-F1E1-B3E7-A5A1AD97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AC1DF-8DEF-E5CF-5CD9-130FC03E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67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CE490-423A-703C-42D5-FCB0F651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628D2-EBE1-35FC-7BD9-D4AFFE44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A3822-8263-802C-51E2-F0B1C70E1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1966A-3DE6-4F5C-9EC7-7F8190DAA4C7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09DFB-0ED5-1D73-2A25-76DE15881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597F4-1FAF-3651-E09E-1D4CB7CAC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D62F2-3C2E-4E3B-A2F6-B57CFDAB09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30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29C4-EA44-CABC-46D7-F2E154784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NRL Predictive Classification Model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C6BA5-6B2E-B010-41E5-7FD123AE7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Uses Bayesian Statistics and Machine Learning to predict NRL match outcomes using historical statistics and odds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488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A757-6FD0-7369-61C6-D751BB1A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</a:t>
            </a:r>
            <a:endParaRPr lang="en-AU" dirty="0"/>
          </a:p>
        </p:txBody>
      </p:sp>
      <p:pic>
        <p:nvPicPr>
          <p:cNvPr id="13" name="Picture 12" descr="The image illustrates a diagram with a sequence of interconnected nodes, each labeled with various file types such as features, historical data, predictions, and parameters, including both updated and regular categories, suggesting a data flow or process diagram.&#10;&#10;AI-generated content may be incorrect.">
            <a:extLst>
              <a:ext uri="{FF2B5EF4-FFF2-40B4-BE49-F238E27FC236}">
                <a16:creationId xmlns:a16="http://schemas.microsoft.com/office/drawing/2014/main" id="{30A78374-36D2-25F1-B6B5-E1F2AD16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" y="1752919"/>
            <a:ext cx="11464977" cy="390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7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8FFA-9DB8-B906-2A36-31F414BC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3A87F-783D-C621-0DC3-B4B2D8580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626"/>
            <a:ext cx="10515600" cy="48091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 in more features:</a:t>
            </a:r>
          </a:p>
          <a:p>
            <a:pPr lvl="1"/>
            <a:r>
              <a:rPr lang="en-US" dirty="0"/>
              <a:t>If can pull, add in injury feature (along with lineups)</a:t>
            </a:r>
          </a:p>
          <a:p>
            <a:pPr lvl="1"/>
            <a:r>
              <a:rPr lang="en-US" dirty="0"/>
              <a:t>Weather if possible (can make better teams worse)</a:t>
            </a:r>
          </a:p>
          <a:p>
            <a:pPr lvl="1"/>
            <a:r>
              <a:rPr lang="en-US" dirty="0"/>
              <a:t>Uncertainty features (not just rolling means but rolling variance)</a:t>
            </a:r>
          </a:p>
          <a:p>
            <a:pPr lvl="1"/>
            <a:r>
              <a:rPr lang="en-US" dirty="0"/>
              <a:t>Position descriptions (outside backs, spine, forwards, bench)</a:t>
            </a:r>
          </a:p>
          <a:p>
            <a:pPr lvl="1"/>
            <a:r>
              <a:rPr lang="en-US" dirty="0"/>
              <a:t>Differentials</a:t>
            </a:r>
          </a:p>
          <a:p>
            <a:r>
              <a:rPr lang="en-US" dirty="0"/>
              <a:t>Use Brier with Logloss for tuning</a:t>
            </a:r>
          </a:p>
          <a:p>
            <a:r>
              <a:rPr lang="en-US" dirty="0"/>
              <a:t>Plot calibration curves to analyse where model is uncalibrated</a:t>
            </a:r>
          </a:p>
          <a:p>
            <a:r>
              <a:rPr lang="en-US" dirty="0"/>
              <a:t>Calibrate XGBoost probabilities or use hybrid calibrator</a:t>
            </a:r>
          </a:p>
          <a:p>
            <a:r>
              <a:rPr lang="en-US" dirty="0"/>
              <a:t>Found that Hybrid Calibration (using outcomes + odds), was best</a:t>
            </a:r>
          </a:p>
          <a:p>
            <a:pPr lvl="1"/>
            <a:r>
              <a:rPr lang="en-US" dirty="0"/>
              <a:t>Integrate into current pipeline (fetch current sharpest odds come Tuesday, use for calibration of model outputs)</a:t>
            </a:r>
          </a:p>
          <a:p>
            <a:pPr lvl="1"/>
            <a:r>
              <a:rPr lang="en-US" dirty="0"/>
              <a:t>Or, do not use (as it overpowers my model), and will not be used for betting anyways</a:t>
            </a:r>
          </a:p>
        </p:txBody>
      </p:sp>
    </p:spTree>
    <p:extLst>
      <p:ext uri="{BB962C8B-B14F-4D97-AF65-F5344CB8AC3E}">
        <p14:creationId xmlns:p14="http://schemas.microsoft.com/office/powerpoint/2010/main" val="172469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DBCE-5E6A-4CB1-A3A3-A3CC5520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Plan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2FF4-010B-4A32-1836-1E7554614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60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Gather Data: </a:t>
            </a:r>
          </a:p>
          <a:p>
            <a:pPr lvl="1"/>
            <a:r>
              <a:rPr lang="en-US" dirty="0" err="1"/>
              <a:t>nrlR</a:t>
            </a:r>
            <a:r>
              <a:rPr lang="en-US" dirty="0"/>
              <a:t> package (player level stats, team level stats, ladder position, etc)</a:t>
            </a:r>
          </a:p>
          <a:p>
            <a:pPr lvl="1"/>
            <a:r>
              <a:rPr lang="en-US" dirty="0"/>
              <a:t>Odds data (as many bookies as possible)</a:t>
            </a:r>
          </a:p>
          <a:p>
            <a:r>
              <a:rPr lang="en-US" dirty="0"/>
              <a:t>Feature Engineering:</a:t>
            </a:r>
          </a:p>
          <a:p>
            <a:pPr lvl="1"/>
            <a:r>
              <a:rPr lang="en-US" dirty="0"/>
              <a:t>Head-2-heads, differentials?</a:t>
            </a:r>
          </a:p>
          <a:p>
            <a:pPr lvl="1"/>
            <a:r>
              <a:rPr lang="en-US" dirty="0"/>
              <a:t>Convert player level data into impacts (bayes)</a:t>
            </a:r>
          </a:p>
          <a:p>
            <a:pPr lvl="1"/>
            <a:r>
              <a:rPr lang="en-US" dirty="0"/>
              <a:t>Build ELO model and combine with ladder for team strengths</a:t>
            </a:r>
          </a:p>
          <a:p>
            <a:pPr lvl="1"/>
            <a:r>
              <a:rPr lang="en-US" dirty="0"/>
              <a:t>Fit underlying Bayes model for points for and against</a:t>
            </a:r>
          </a:p>
          <a:p>
            <a:r>
              <a:rPr lang="en-US" dirty="0"/>
              <a:t>Calibrate Bayes Model with ML algorithm, tuned for logloss.</a:t>
            </a:r>
          </a:p>
          <a:p>
            <a:r>
              <a:rPr lang="en-US" dirty="0"/>
              <a:t>Fit logistic regression with bookie odds</a:t>
            </a:r>
          </a:p>
          <a:p>
            <a:r>
              <a:rPr lang="en-US" dirty="0"/>
              <a:t>Backtest for CLV, ROI, logloss difference</a:t>
            </a:r>
          </a:p>
          <a:p>
            <a:r>
              <a:rPr lang="en-US" dirty="0"/>
              <a:t>Backtest probability of ruin, Monte Carlo simulations</a:t>
            </a:r>
          </a:p>
        </p:txBody>
      </p:sp>
    </p:spTree>
    <p:extLst>
      <p:ext uri="{BB962C8B-B14F-4D97-AF65-F5344CB8AC3E}">
        <p14:creationId xmlns:p14="http://schemas.microsoft.com/office/powerpoint/2010/main" val="126759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B50D0-188F-ADD7-6F77-4EE8867FF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and Historical Gathering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ED06-A40A-3CE7-1B51-034EA3645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Fetch raw data, create csv’s (script)</a:t>
            </a:r>
          </a:p>
          <a:p>
            <a:r>
              <a:rPr lang="en-US" dirty="0"/>
              <a:t>EDA (script)</a:t>
            </a:r>
          </a:p>
          <a:p>
            <a:r>
              <a:rPr lang="en-US" dirty="0"/>
              <a:t>Feature engineering (script)</a:t>
            </a:r>
          </a:p>
          <a:p>
            <a:r>
              <a:rPr lang="en-US" dirty="0"/>
              <a:t>Bayes and ML model training and selection (script)</a:t>
            </a:r>
          </a:p>
          <a:p>
            <a:r>
              <a:rPr lang="en-US" dirty="0"/>
              <a:t>Create model predictions csv’s (script)</a:t>
            </a:r>
          </a:p>
          <a:p>
            <a:r>
              <a:rPr lang="en-US" dirty="0"/>
              <a:t>Model analysis via backtesting (script)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82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90B4-D0E4-41FA-E91B-57EDD51C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Pipeline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E007-3065-F8C8-8E9B-220694BAA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 previous round results to raw data csv’s</a:t>
            </a:r>
          </a:p>
          <a:p>
            <a:r>
              <a:rPr lang="en-US" dirty="0"/>
              <a:t>Fetch upcoming round fixtures/data</a:t>
            </a:r>
          </a:p>
          <a:p>
            <a:r>
              <a:rPr lang="en-US" dirty="0"/>
              <a:t>Run through modelling pipeline:</a:t>
            </a:r>
          </a:p>
          <a:p>
            <a:pPr lvl="1"/>
            <a:r>
              <a:rPr lang="en-US" dirty="0"/>
              <a:t>Feature engineering</a:t>
            </a:r>
          </a:p>
          <a:p>
            <a:pPr lvl="1"/>
            <a:r>
              <a:rPr lang="en-US" dirty="0"/>
              <a:t>Model predictions</a:t>
            </a:r>
          </a:p>
          <a:p>
            <a:pPr lvl="1"/>
            <a:r>
              <a:rPr lang="en-US" dirty="0"/>
              <a:t>Append new predictions to predictions csv</a:t>
            </a:r>
          </a:p>
          <a:p>
            <a:pPr lvl="1"/>
            <a:r>
              <a:rPr lang="en-US" dirty="0"/>
              <a:t>Append new odds to odds csv</a:t>
            </a:r>
          </a:p>
          <a:p>
            <a:pPr lvl="1"/>
            <a:r>
              <a:rPr lang="en-US" dirty="0"/>
              <a:t>Append new bets to bets csv</a:t>
            </a:r>
          </a:p>
          <a:p>
            <a:r>
              <a:rPr lang="en-US" dirty="0"/>
              <a:t>Import into Power BI for model analysis</a:t>
            </a:r>
          </a:p>
        </p:txBody>
      </p:sp>
    </p:spTree>
    <p:extLst>
      <p:ext uri="{BB962C8B-B14F-4D97-AF65-F5344CB8AC3E}">
        <p14:creationId xmlns:p14="http://schemas.microsoft.com/office/powerpoint/2010/main" val="314147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A0A9-A7C4-F3E7-AD5C-5FED0E6A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0F71-414C-9DEA-F266-0B945A0B5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Logloss (assess model probability calibration to real outcomes) – model training metric.</a:t>
            </a:r>
          </a:p>
          <a:p>
            <a:r>
              <a:rPr lang="en-US" dirty="0"/>
              <a:t>CLV (assess model probabilities vs closing lines) – edge detection metric.</a:t>
            </a:r>
          </a:p>
        </p:txBody>
      </p:sp>
    </p:spTree>
    <p:extLst>
      <p:ext uri="{BB962C8B-B14F-4D97-AF65-F5344CB8AC3E}">
        <p14:creationId xmlns:p14="http://schemas.microsoft.com/office/powerpoint/2010/main" val="2351705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9C39-E963-0270-4B14-EFD5A67C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Bayesian Base Model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B2C00-5FB9-ABB8-C2DD-793A8E8005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25564"/>
                <a:ext cx="12192000" cy="55324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AU" sz="2400" dirty="0"/>
                  <a:t>:   (y’s are scores for home (H) and away (A), m is score margin)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𝑁𝑒𝑔𝑎𝑡𝑖𝑣𝑒𝐵𝑖𝑛𝑜𝑚𝑖𝑎𝑙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𝑎𝑡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𝑑𝑒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AU" sz="2400" dirty="0"/>
                  <a:t>:   (alpha is base strength, HA is home advantage, </a:t>
                </a:r>
                <a:r>
                  <a:rPr lang="en-AU" sz="2400" dirty="0" err="1"/>
                  <a:t>att</a:t>
                </a:r>
                <a:r>
                  <a:rPr lang="en-AU" sz="2400" dirty="0"/>
                  <a:t>/def are attack and defence strengths, X are covariates.</a:t>
                </a:r>
              </a:p>
              <a:p>
                <a:pPr marL="0" indent="0">
                  <a:buNone/>
                </a:pPr>
                <a:r>
                  <a:rPr lang="en-AU" sz="2400" dirty="0"/>
                  <a:t>Priors: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0.1,0.3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𝑎𝑡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𝑎𝑡𝑡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𝑑𝑒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𝑑𝑒𝑓</m:t>
                            </m:r>
                          </m:sub>
                        </m:sSub>
                      </m:e>
                    </m:d>
                  </m:oMath>
                </a14:m>
                <a:endParaRPr lang="en-A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𝑒𝑙𝑜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𝑒𝑙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𝑎𝑡𝑡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𝑑𝑒𝑓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𝐻𝑎𝑙𝑓𝑁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AU" sz="2400" dirty="0"/>
                  <a:t>:   (Standardised </a:t>
                </a:r>
                <a:r>
                  <a:rPr lang="en-AU" sz="2400" dirty="0" err="1"/>
                  <a:t>elo</a:t>
                </a:r>
                <a:r>
                  <a:rPr lang="en-AU" sz="2400" dirty="0"/>
                  <a:t>, with k level recency)</a:t>
                </a:r>
              </a:p>
              <a:p>
                <a:pPr marL="0" indent="0">
                  <a:buNone/>
                </a:pPr>
                <a:r>
                  <a:rPr lang="en-AU" sz="2400" dirty="0"/>
                  <a:t>Covariates: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𝑠𝑡𝑟𝑒𝑛𝑔𝑡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𝑠𝑡𝑟𝑒𝑛𝑔𝑡h</m:t>
                            </m:r>
                          </m:e>
                        </m:ac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𝑠𝑡𝑟𝑒𝑛𝑔𝑡h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𝑠𝑡𝑟𝑒𝑛𝑔𝑡h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(0, 0.3)</m:t>
                    </m:r>
                  </m:oMath>
                </a14:m>
                <a:r>
                  <a:rPr lang="en-AU" sz="2400" dirty="0"/>
                  <a:t>:   (Standardised squad strength)</a:t>
                </a:r>
              </a:p>
              <a:p>
                <a:pPr marL="0" indent="0">
                  <a:buNone/>
                </a:pPr>
                <a:r>
                  <a:rPr lang="en-AU" sz="2400" dirty="0"/>
                  <a:t>Recovery: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𝑟𝑒𝑐𝑜𝑣𝑒𝑟𝑦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(0,0.2)</m:t>
                    </m:r>
                  </m:oMath>
                </a14:m>
                <a:r>
                  <a:rPr lang="en-AU" sz="2400" dirty="0"/>
                  <a:t>:   (Standardised recovery (travel, rest) impact)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B2C00-5FB9-ABB8-C2DD-793A8E8005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25564"/>
                <a:ext cx="12192000" cy="5532436"/>
              </a:xfrm>
              <a:blipFill>
                <a:blip r:embed="rId2"/>
                <a:stretch>
                  <a:fillRect l="-750" t="-1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13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D140-B2F9-35AE-80EC-F7322042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Squad Strengths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3ABC0-7E75-F1CC-8592-6B6E8EEAA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1328"/>
            <a:ext cx="12192000" cy="53766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Attacking Channels:</a:t>
            </a:r>
          </a:p>
          <a:p>
            <a:r>
              <a:rPr lang="en-US" dirty="0"/>
              <a:t>Running: (</a:t>
            </a:r>
            <a:r>
              <a:rPr lang="en-US" dirty="0" err="1"/>
              <a:t>run_metres</a:t>
            </a:r>
            <a:r>
              <a:rPr lang="en-US" dirty="0"/>
              <a:t>, </a:t>
            </a:r>
            <a:r>
              <a:rPr lang="en-US" dirty="0" err="1"/>
              <a:t>post_contact_metres,tackle_breaks,line_breaks</a:t>
            </a:r>
            <a:r>
              <a:rPr lang="en-US" dirty="0"/>
              <a:t>, offloads)/runs</a:t>
            </a:r>
          </a:p>
          <a:p>
            <a:r>
              <a:rPr lang="en-US" dirty="0"/>
              <a:t>Play-Making: (</a:t>
            </a:r>
            <a:r>
              <a:rPr lang="en-US" dirty="0" err="1"/>
              <a:t>try_assists</a:t>
            </a:r>
            <a:r>
              <a:rPr lang="en-US" dirty="0"/>
              <a:t>, </a:t>
            </a:r>
            <a:r>
              <a:rPr lang="en-US" dirty="0" err="1"/>
              <a:t>line_break_assists</a:t>
            </a:r>
            <a:r>
              <a:rPr lang="en-US" dirty="0"/>
              <a:t>, </a:t>
            </a:r>
            <a:r>
              <a:rPr lang="en-US" dirty="0" err="1"/>
              <a:t>kicks_general_play</a:t>
            </a:r>
            <a:r>
              <a:rPr lang="en-US" dirty="0"/>
              <a:t>, passes)/possession, </a:t>
            </a:r>
            <a:r>
              <a:rPr lang="en-US" dirty="0" err="1"/>
              <a:t>kick_metres</a:t>
            </a:r>
            <a:r>
              <a:rPr lang="en-US" dirty="0"/>
              <a:t>/</a:t>
            </a:r>
            <a:r>
              <a:rPr lang="en-US" dirty="0" err="1"/>
              <a:t>kicks_general_play</a:t>
            </a:r>
            <a:r>
              <a:rPr lang="en-US" dirty="0"/>
              <a:t>, </a:t>
            </a:r>
            <a:r>
              <a:rPr lang="en-US" dirty="0" err="1"/>
              <a:t>goal_kick_ratio</a:t>
            </a:r>
            <a:endParaRPr lang="en-US" dirty="0"/>
          </a:p>
          <a:p>
            <a:r>
              <a:rPr lang="en-US" dirty="0"/>
              <a:t>Overall: tries/game, errors/possession</a:t>
            </a:r>
          </a:p>
          <a:p>
            <a:pPr marL="0" indent="0">
              <a:buNone/>
            </a:pPr>
            <a:r>
              <a:rPr lang="en-AU" dirty="0"/>
              <a:t>Defensive Channels:</a:t>
            </a:r>
          </a:p>
          <a:p>
            <a:r>
              <a:rPr lang="en-AU" dirty="0"/>
              <a:t>Work: tackles/</a:t>
            </a:r>
            <a:r>
              <a:rPr lang="en-AU" dirty="0" err="1"/>
              <a:t>time_weighting</a:t>
            </a:r>
            <a:r>
              <a:rPr lang="en-AU" dirty="0"/>
              <a:t>, </a:t>
            </a:r>
            <a:r>
              <a:rPr lang="en-AU" dirty="0" err="1"/>
              <a:t>try_saves</a:t>
            </a:r>
            <a:r>
              <a:rPr lang="en-AU" dirty="0"/>
              <a:t>/game</a:t>
            </a:r>
          </a:p>
          <a:p>
            <a:r>
              <a:rPr lang="en-AU" dirty="0"/>
              <a:t>Discipline: (</a:t>
            </a:r>
            <a:r>
              <a:rPr lang="en-AU" dirty="0" err="1"/>
              <a:t>missed_tackles</a:t>
            </a:r>
            <a:r>
              <a:rPr lang="en-AU" dirty="0"/>
              <a:t>, </a:t>
            </a:r>
            <a:r>
              <a:rPr lang="en-AU" dirty="0" err="1"/>
              <a:t>penalties_conceded</a:t>
            </a:r>
            <a:r>
              <a:rPr lang="en-AU" dirty="0"/>
              <a:t>, </a:t>
            </a:r>
            <a:r>
              <a:rPr lang="en-AU" dirty="0" err="1"/>
              <a:t>tackles_ineffective</a:t>
            </a:r>
            <a:r>
              <a:rPr lang="en-AU" dirty="0"/>
              <a:t>)/tackles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194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652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NRL Predictive Classification Model</vt:lpstr>
      <vt:lpstr>The Pipeline</vt:lpstr>
      <vt:lpstr>Next</vt:lpstr>
      <vt:lpstr>High Level Plan</vt:lpstr>
      <vt:lpstr>Analysis and Historical Gathering</vt:lpstr>
      <vt:lpstr>Production Pipeline</vt:lpstr>
      <vt:lpstr>Key Metrics</vt:lpstr>
      <vt:lpstr>Bayesian Base Model</vt:lpstr>
      <vt:lpstr>Deriving Squad Strengths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Galea</dc:creator>
  <cp:lastModifiedBy>Jack Galea</cp:lastModifiedBy>
  <cp:revision>1</cp:revision>
  <dcterms:created xsi:type="dcterms:W3CDTF">2026-04-15T05:07:37Z</dcterms:created>
  <dcterms:modified xsi:type="dcterms:W3CDTF">2026-05-26T06:08:19Z</dcterms:modified>
</cp:coreProperties>
</file>